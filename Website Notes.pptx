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25"/>
  </p:normalViewPr>
  <p:slideViewPr>
    <p:cSldViewPr snapToGrid="0">
      <p:cViewPr varScale="1">
        <p:scale>
          <a:sx n="95" d="100"/>
          <a:sy n="95" d="100"/>
        </p:scale>
        <p:origin x="6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F538C-71F7-B405-3717-2BAE11495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867F12-B63D-1C89-8337-EB8CBAC48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5275D-9961-7FE0-B21D-32CCFC3B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A0742-8CD2-0C4E-837F-25CD9D922AA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35DAE-B136-CD7C-A079-21E7CCA82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3C1D7-805F-AEBD-1405-A943BD5A2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0B9D-2BAF-4C46-878D-3DB46143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9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B9F38-568D-0823-5ECD-EC63A8DC4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D8F7A-F9F4-EA70-2285-5BE8CF41F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90340-E26B-3E6A-AE13-0278A8F99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A0742-8CD2-0C4E-837F-25CD9D922AA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44BAF-5B61-45A5-7239-C8675065C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3082C-46ED-0BAD-7519-20D387D7D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0B9D-2BAF-4C46-878D-3DB46143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296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A69BF-C269-43ED-8762-DC55B6977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AA82D-E35B-65C6-6BAD-5FF6F6AFF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0F009-38D8-EB72-0CAD-FACD0B3E4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A0742-8CD2-0C4E-837F-25CD9D922AA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698A3-3300-0E2D-4789-75089A670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B482E-49A9-37A9-6F11-1C131189C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0B9D-2BAF-4C46-878D-3DB46143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50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222C2-B70A-8C7E-109E-EB70DF063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6AACC-6065-1AD1-EE48-9E256EDA54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0EF6F-9689-EE3F-D935-EB388DD9B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2E374-7A9C-4191-7B34-5EA06DC35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A0742-8CD2-0C4E-837F-25CD9D922AA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FA93A-2407-B172-8ED0-405EF0C55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AA316-3BE5-E981-2838-68E22D541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0B9D-2BAF-4C46-878D-3DB46143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686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D28AE-97B3-FD54-60EA-B937B5CC1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439E9-E6D7-FC92-5AE9-A397D99ED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99BA48-89ED-233C-5080-1F75E6D10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B1ACCD-04C8-C5E8-358E-F2347C5816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C9CD36-2844-9A2F-1E94-E337BBD8C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F6EB4F-9D2C-31AB-7323-EE84E399B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A0742-8CD2-0C4E-837F-25CD9D922AA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C300C9-5D5E-FAB0-4EF3-CEBE3D640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F5B1AF-A691-D675-7BA7-3A7C84310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0B9D-2BAF-4C46-878D-3DB46143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0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5196B-8A88-D417-55F3-F30A60CE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1EA3-64E6-50C9-F04E-26B04F2FF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A0742-8CD2-0C4E-837F-25CD9D922AA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8350E2-61CC-DE1B-E310-96C73C1F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DFA37E-84BF-1945-E554-3BE43FB16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0B9D-2BAF-4C46-878D-3DB46143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59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55767-FF54-49F4-8F69-731F88FE4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A0742-8CD2-0C4E-837F-25CD9D922AA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D4A2A1-3630-54F9-4F68-A0444C42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41377-07D5-42BB-9628-B1ECC855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0B9D-2BAF-4C46-878D-3DB46143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08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65C71-901C-2ABA-18BE-ADC9AE0FB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1548B-45CC-BF3E-09F6-B8F04CB2F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C06D6-CB2C-C103-6920-373F2F0803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1AADB-4A34-264C-8391-FB7094924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A0742-8CD2-0C4E-837F-25CD9D922AA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62579-4DED-171A-50E9-0BFAB79EA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F83A7-15AD-CB5A-67FB-AB326A0C8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0B9D-2BAF-4C46-878D-3DB46143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258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EBB42-65B2-252B-A413-2B8ADD270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3D7EB6-1039-6A53-B7BB-BA0430C5BB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08B904-2A2B-1AE0-ABB3-B80934CA0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C8B9B-DBB1-5395-3E6E-706BA5D29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A0742-8CD2-0C4E-837F-25CD9D922AA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BA60D-F9BA-146B-405C-1589E2210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9E22C1-76F9-8280-57E4-E793B9203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0B9D-2BAF-4C46-878D-3DB46143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744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18245-12F1-79AF-AA8D-97CEAD762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07AB26-455D-39FF-0811-275C7B561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01974-7A1F-5442-168A-8C79D5093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A0742-8CD2-0C4E-837F-25CD9D922AA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4B170-382A-ECFC-F060-1DC988B63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19FB4-3A1C-0304-62FB-43EFC9612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0B9D-2BAF-4C46-878D-3DB46143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918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5D7E4D-453E-19D1-A58E-DF9287AE5E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C990EC-C7AF-A354-AB57-6D53223A9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631FC-9C34-BDFC-61E0-34578A2D4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A0742-8CD2-0C4E-837F-25CD9D922AA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C68FD-C581-7496-2C0A-AD747FCA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9921D-FC33-31AC-EFAE-6779A364E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0B9D-2BAF-4C46-878D-3DB46143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56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8F0B3B-11FB-0CAC-3DE9-4A1E21A07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C65A2-C27D-4803-9FAC-E859CCA9D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AD46A-59FE-6BC6-3EE8-0B3BCA7D35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A0742-8CD2-0C4E-837F-25CD9D922AA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2F0B-0935-86BF-5AA6-07C45B3AFA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9431A-82E9-B52E-395F-10B874A62E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E0B9D-2BAF-4C46-878D-3DB46143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57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9CF27-0FE4-F3B7-664D-6582B1613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63" y="1814513"/>
            <a:ext cx="5040312" cy="387096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85B5082-3614-0E1B-8FE6-F8EFFF8AE412}"/>
              </a:ext>
            </a:extLst>
          </p:cNvPr>
          <p:cNvGrpSpPr/>
          <p:nvPr/>
        </p:nvGrpSpPr>
        <p:grpSpPr>
          <a:xfrm>
            <a:off x="1443038" y="2115799"/>
            <a:ext cx="738188" cy="300038"/>
            <a:chOff x="1743075" y="1514475"/>
            <a:chExt cx="738188" cy="30003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0A1BF7A-BEB2-DA6C-2520-394386B8C6A9}"/>
                </a:ext>
              </a:extLst>
            </p:cNvPr>
            <p:cNvSpPr/>
            <p:nvPr/>
          </p:nvSpPr>
          <p:spPr>
            <a:xfrm>
              <a:off x="1743075" y="1514475"/>
              <a:ext cx="300038" cy="30003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D7CBF92-2EE0-C74D-6FE0-7C0B8DD20E62}"/>
                </a:ext>
              </a:extLst>
            </p:cNvPr>
            <p:cNvSpPr/>
            <p:nvPr/>
          </p:nvSpPr>
          <p:spPr>
            <a:xfrm>
              <a:off x="2181225" y="1514475"/>
              <a:ext cx="300038" cy="30003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18C5159-7F3C-B9F9-2A13-DB79E3436FBA}"/>
              </a:ext>
            </a:extLst>
          </p:cNvPr>
          <p:cNvSpPr txBox="1"/>
          <p:nvPr/>
        </p:nvSpPr>
        <p:spPr>
          <a:xfrm>
            <a:off x="2809876" y="2623006"/>
            <a:ext cx="4486275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err="1"/>
              <a:t>Americall</a:t>
            </a:r>
            <a:r>
              <a:rPr lang="en-US" b="1" dirty="0"/>
              <a:t>, Inc. Logo needs fixing</a:t>
            </a:r>
            <a:br>
              <a:rPr lang="en-US" dirty="0"/>
            </a:br>
            <a:r>
              <a:rPr lang="en-US" dirty="0"/>
              <a:t>IF you can clear the space in A and e in </a:t>
            </a:r>
            <a:r>
              <a:rPr lang="en-US" dirty="0" err="1"/>
              <a:t>Americall</a:t>
            </a:r>
            <a:r>
              <a:rPr lang="en-US" dirty="0"/>
              <a:t>. Looks odd on darker backgrounds.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9E8680-BF65-5A88-ECB9-E1FB52700CB8}"/>
              </a:ext>
            </a:extLst>
          </p:cNvPr>
          <p:cNvSpPr txBox="1"/>
          <p:nvPr/>
        </p:nvSpPr>
        <p:spPr>
          <a:xfrm>
            <a:off x="276225" y="492795"/>
            <a:ext cx="5248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1. HOMEPAGE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E0A28D0-2FCA-01EB-E789-14EAC9720D37}"/>
              </a:ext>
            </a:extLst>
          </p:cNvPr>
          <p:cNvCxnSpPr/>
          <p:nvPr/>
        </p:nvCxnSpPr>
        <p:spPr>
          <a:xfrm flipH="1" flipV="1">
            <a:off x="2181226" y="2415837"/>
            <a:ext cx="628650" cy="355938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584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E73B16-2DF0-0850-C4EF-1B8A19AE3C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149" y="1542298"/>
            <a:ext cx="5976938" cy="470285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11D01F-5E05-3EFC-92E0-7E792C37E833}"/>
              </a:ext>
            </a:extLst>
          </p:cNvPr>
          <p:cNvSpPr txBox="1"/>
          <p:nvPr/>
        </p:nvSpPr>
        <p:spPr>
          <a:xfrm>
            <a:off x="6958012" y="612844"/>
            <a:ext cx="4543425" cy="56323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Book A Demo Form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1.First Name, Last Name*</a:t>
            </a:r>
            <a:br>
              <a:rPr lang="en-US" dirty="0"/>
            </a:br>
            <a:br>
              <a:rPr lang="en-US" dirty="0"/>
            </a:br>
            <a:r>
              <a:rPr lang="en-US" dirty="0"/>
              <a:t>2.Designation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3.Company*</a:t>
            </a:r>
            <a:br>
              <a:rPr lang="en-US" dirty="0"/>
            </a:br>
            <a:br>
              <a:rPr lang="en-US" dirty="0"/>
            </a:br>
            <a:r>
              <a:rPr lang="en-US" dirty="0"/>
              <a:t>4. Business Email*</a:t>
            </a:r>
            <a:br>
              <a:rPr lang="en-US" dirty="0"/>
            </a:br>
            <a:br>
              <a:rPr lang="en-US" dirty="0"/>
            </a:br>
            <a:r>
              <a:rPr lang="en-US" dirty="0"/>
              <a:t>5. Contact Number*</a:t>
            </a:r>
            <a:br>
              <a:rPr lang="en-US" dirty="0"/>
            </a:br>
            <a:br>
              <a:rPr lang="en-US" dirty="0"/>
            </a:br>
            <a:r>
              <a:rPr lang="en-US" dirty="0"/>
              <a:t>6. Monthly Appointment Volume</a:t>
            </a:r>
            <a:br>
              <a:rPr lang="en-US" dirty="0"/>
            </a:br>
            <a:r>
              <a:rPr lang="en-US" dirty="0"/>
              <a:t>Dropdown</a:t>
            </a:r>
            <a:br>
              <a:rPr lang="en-US" dirty="0"/>
            </a:br>
            <a:r>
              <a:rPr lang="en-US" dirty="0"/>
              <a:t> a. </a:t>
            </a:r>
            <a:r>
              <a:rPr lang="en-US" i="1" dirty="0"/>
              <a:t>Under 100 appointments/</a:t>
            </a:r>
            <a:r>
              <a:rPr lang="en-US" i="1" dirty="0" err="1"/>
              <a:t>mo</a:t>
            </a:r>
            <a:r>
              <a:rPr lang="en-US" i="1" dirty="0"/>
              <a:t> 100–500 </a:t>
            </a:r>
          </a:p>
          <a:p>
            <a:r>
              <a:rPr lang="en-US" i="1" dirty="0"/>
              <a:t> b. appointments/</a:t>
            </a:r>
            <a:r>
              <a:rPr lang="en-US" i="1" dirty="0" err="1"/>
              <a:t>mo</a:t>
            </a:r>
            <a:r>
              <a:rPr lang="en-US" i="1" dirty="0"/>
              <a:t> 500–1,000 </a:t>
            </a:r>
          </a:p>
          <a:p>
            <a:r>
              <a:rPr lang="en-US" i="1" dirty="0"/>
              <a:t> c. appointments/</a:t>
            </a:r>
            <a:r>
              <a:rPr lang="en-US" i="1" dirty="0" err="1"/>
              <a:t>mo</a:t>
            </a:r>
            <a:r>
              <a:rPr lang="en-US" i="1" dirty="0"/>
              <a:t> 1,000+/</a:t>
            </a:r>
            <a:r>
              <a:rPr lang="en-US" i="1" dirty="0" err="1"/>
              <a:t>mo</a:t>
            </a:r>
            <a:r>
              <a:rPr lang="en-US" i="1" dirty="0"/>
              <a:t> </a:t>
            </a:r>
            <a:br>
              <a:rPr lang="en-US" i="1" dirty="0"/>
            </a:br>
            <a:r>
              <a:rPr lang="en-US" i="1" dirty="0"/>
              <a:t> d. Not sure yet</a:t>
            </a:r>
            <a:br>
              <a:rPr lang="en-US" i="1" dirty="0"/>
            </a:br>
            <a:br>
              <a:rPr lang="en-US" i="1" dirty="0"/>
            </a:br>
            <a:r>
              <a:rPr lang="en-US" i="1" dirty="0"/>
              <a:t>7. </a:t>
            </a:r>
            <a:r>
              <a:rPr lang="en-US" dirty="0"/>
              <a:t>How can </a:t>
            </a:r>
            <a:r>
              <a:rPr lang="en-US" dirty="0" err="1"/>
              <a:t>Americall</a:t>
            </a:r>
            <a:r>
              <a:rPr lang="en-US" dirty="0"/>
              <a:t>, Inc. Help?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B73D50-11EF-647A-140F-7F3E84832764}"/>
              </a:ext>
            </a:extLst>
          </p:cNvPr>
          <p:cNvSpPr txBox="1"/>
          <p:nvPr/>
        </p:nvSpPr>
        <p:spPr>
          <a:xfrm>
            <a:off x="276225" y="492795"/>
            <a:ext cx="5248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2. BOOK A DEMO FORM</a:t>
            </a:r>
          </a:p>
        </p:txBody>
      </p:sp>
    </p:spTree>
    <p:extLst>
      <p:ext uri="{BB962C8B-B14F-4D97-AF65-F5344CB8AC3E}">
        <p14:creationId xmlns:p14="http://schemas.microsoft.com/office/powerpoint/2010/main" val="2326250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20185E-FD0E-C27B-FE5F-739446852DFC}"/>
              </a:ext>
            </a:extLst>
          </p:cNvPr>
          <p:cNvSpPr txBox="1"/>
          <p:nvPr/>
        </p:nvSpPr>
        <p:spPr>
          <a:xfrm>
            <a:off x="276225" y="492795"/>
            <a:ext cx="5248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3. ABOUT SECTION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294E46-7B0B-7E2A-181A-6E69DCDC6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982" y="1483918"/>
            <a:ext cx="9571038" cy="389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857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3D39E2-85E0-34B6-8295-8284DDDFAA27}"/>
              </a:ext>
            </a:extLst>
          </p:cNvPr>
          <p:cNvSpPr txBox="1"/>
          <p:nvPr/>
        </p:nvSpPr>
        <p:spPr>
          <a:xfrm>
            <a:off x="395288" y="2114550"/>
            <a:ext cx="237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Trained Teams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8B2B5C-7B4D-7538-B35F-D0B782DE0964}"/>
              </a:ext>
            </a:extLst>
          </p:cNvPr>
          <p:cNvSpPr txBox="1"/>
          <p:nvPr/>
        </p:nvSpPr>
        <p:spPr>
          <a:xfrm>
            <a:off x="2767013" y="2128837"/>
            <a:ext cx="237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Quality First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FA3F3C-EFDA-0DD0-6886-99218F9AC556}"/>
              </a:ext>
            </a:extLst>
          </p:cNvPr>
          <p:cNvSpPr txBox="1"/>
          <p:nvPr/>
        </p:nvSpPr>
        <p:spPr>
          <a:xfrm>
            <a:off x="5957888" y="1759505"/>
            <a:ext cx="23717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Smart </a:t>
            </a:r>
            <a:r>
              <a:rPr lang="en-US" sz="2400" dirty="0" err="1"/>
              <a:t>Campaing</a:t>
            </a:r>
            <a:r>
              <a:rPr lang="en-US" sz="2400" dirty="0"/>
              <a:t> Management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697B5B-4898-C0A5-ABBE-DC481767D5FB}"/>
              </a:ext>
            </a:extLst>
          </p:cNvPr>
          <p:cNvSpPr txBox="1"/>
          <p:nvPr/>
        </p:nvSpPr>
        <p:spPr>
          <a:xfrm>
            <a:off x="8691562" y="2114550"/>
            <a:ext cx="3105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Industry Expertise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D9F888-8DCF-1B95-D100-1B1E7893C933}"/>
              </a:ext>
            </a:extLst>
          </p:cNvPr>
          <p:cNvSpPr txBox="1"/>
          <p:nvPr/>
        </p:nvSpPr>
        <p:spPr>
          <a:xfrm>
            <a:off x="395288" y="2729001"/>
            <a:ext cx="23717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Every agent goes through a rigorous multi-stage recruitment and training process before handling a single call — ensuring only the most prepared, brand-aligned representatives reach your prospects.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D69E38-065B-F070-E38D-18CB61526D50}"/>
              </a:ext>
            </a:extLst>
          </p:cNvPr>
          <p:cNvSpPr txBox="1"/>
          <p:nvPr/>
        </p:nvSpPr>
        <p:spPr>
          <a:xfrm>
            <a:off x="2767012" y="2743288"/>
            <a:ext cx="23717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Every call is monitored against your exact requirements. Our QA process captures performance data, surfaces coaching opportunities, and feeds directly back to agents — so standards tighten over time, not drift.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A53AA7-AF3F-0E93-3C45-427637232343}"/>
              </a:ext>
            </a:extLst>
          </p:cNvPr>
          <p:cNvSpPr txBox="1"/>
          <p:nvPr/>
        </p:nvSpPr>
        <p:spPr>
          <a:xfrm>
            <a:off x="5957887" y="2729000"/>
            <a:ext cx="23717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From scrubbed lead lists and connection-optimized DIDs to real-time agent oversight — we manage every layer of your campaign so your pipeline stays full and your team stays focused on closing.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E55A74-B956-C95B-D016-CE9AF5A3446A}"/>
              </a:ext>
            </a:extLst>
          </p:cNvPr>
          <p:cNvSpPr txBox="1"/>
          <p:nvPr/>
        </p:nvSpPr>
        <p:spPr>
          <a:xfrm>
            <a:off x="8691562" y="2743288"/>
            <a:ext cx="23717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Deep specialization across solar, roofing, HVAC, healthcare, and home improvement means your agents already understand your buyer's language before the first call is made.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BA64D9-B375-68C9-28A8-FB5283B473D4}"/>
              </a:ext>
            </a:extLst>
          </p:cNvPr>
          <p:cNvSpPr txBox="1"/>
          <p:nvPr/>
        </p:nvSpPr>
        <p:spPr>
          <a:xfrm>
            <a:off x="276224" y="492795"/>
            <a:ext cx="6653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3. ABOUT SECTION (EXTENDED)</a:t>
            </a:r>
          </a:p>
        </p:txBody>
      </p:sp>
    </p:spTree>
    <p:extLst>
      <p:ext uri="{BB962C8B-B14F-4D97-AF65-F5344CB8AC3E}">
        <p14:creationId xmlns:p14="http://schemas.microsoft.com/office/powerpoint/2010/main" val="2164865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206CA0-AD46-2BBC-33B6-B0C8D2BB9A3A}"/>
              </a:ext>
            </a:extLst>
          </p:cNvPr>
          <p:cNvSpPr txBox="1"/>
          <p:nvPr/>
        </p:nvSpPr>
        <p:spPr>
          <a:xfrm>
            <a:off x="276224" y="492795"/>
            <a:ext cx="6653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3. ABOUT SECTION (EXTENDED)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AE5C22-1396-F49A-9AE6-278398103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4" y="1193225"/>
            <a:ext cx="8835091" cy="37230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D1FEB1-B5D3-1F4A-BDC3-FF7C2ADC6756}"/>
              </a:ext>
            </a:extLst>
          </p:cNvPr>
          <p:cNvSpPr txBox="1"/>
          <p:nvPr/>
        </p:nvSpPr>
        <p:spPr>
          <a:xfrm>
            <a:off x="276224" y="5059693"/>
            <a:ext cx="2668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 Bryan Tucker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15C33D-3ED8-B7AD-BCBB-F5BF4D1C52E5}"/>
              </a:ext>
            </a:extLst>
          </p:cNvPr>
          <p:cNvSpPr txBox="1"/>
          <p:nvPr/>
        </p:nvSpPr>
        <p:spPr>
          <a:xfrm>
            <a:off x="276224" y="5596628"/>
            <a:ext cx="2668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2. Alex Mercer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33E1B6-781E-8957-041E-11B4349494F6}"/>
              </a:ext>
            </a:extLst>
          </p:cNvPr>
          <p:cNvSpPr txBox="1"/>
          <p:nvPr/>
        </p:nvSpPr>
        <p:spPr>
          <a:xfrm>
            <a:off x="276224" y="6126439"/>
            <a:ext cx="2977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 </a:t>
            </a:r>
            <a:r>
              <a:rPr lang="en-US" sz="2400" dirty="0" err="1"/>
              <a:t>Raiyan</a:t>
            </a:r>
            <a:r>
              <a:rPr lang="en-US" sz="2400" dirty="0"/>
              <a:t> </a:t>
            </a:r>
            <a:r>
              <a:rPr lang="en-US" sz="2400" dirty="0" err="1"/>
              <a:t>Dio</a:t>
            </a:r>
            <a:r>
              <a:rPr lang="en-US" sz="2400" dirty="0"/>
              <a:t> Sarwar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C124C0-4F49-ED77-6180-B598DEEC0B92}"/>
              </a:ext>
            </a:extLst>
          </p:cNvPr>
          <p:cNvSpPr txBox="1"/>
          <p:nvPr/>
        </p:nvSpPr>
        <p:spPr>
          <a:xfrm>
            <a:off x="3254188" y="5059693"/>
            <a:ext cx="2977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4. Omar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A47BF2-2DE9-18DF-DF0A-7C8D0A9F6C72}"/>
              </a:ext>
            </a:extLst>
          </p:cNvPr>
          <p:cNvSpPr txBox="1"/>
          <p:nvPr/>
        </p:nvSpPr>
        <p:spPr>
          <a:xfrm>
            <a:off x="3254188" y="5524920"/>
            <a:ext cx="2977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5. </a:t>
            </a:r>
            <a:r>
              <a:rPr lang="en-US" sz="2400" dirty="0" err="1"/>
              <a:t>Rezwan</a:t>
            </a:r>
            <a:r>
              <a:rPr lang="en-US" sz="2400" dirty="0"/>
              <a:t> Chowdhury</a:t>
            </a:r>
          </a:p>
        </p:txBody>
      </p:sp>
    </p:spTree>
    <p:extLst>
      <p:ext uri="{BB962C8B-B14F-4D97-AF65-F5344CB8AC3E}">
        <p14:creationId xmlns:p14="http://schemas.microsoft.com/office/powerpoint/2010/main" val="2392376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302</Words>
  <Application>Microsoft Macintosh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</cp:revision>
  <dcterms:created xsi:type="dcterms:W3CDTF">2026-04-21T20:38:16Z</dcterms:created>
  <dcterms:modified xsi:type="dcterms:W3CDTF">2026-04-21T22:36:24Z</dcterms:modified>
</cp:coreProperties>
</file>